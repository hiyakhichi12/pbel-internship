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B9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262FB-0591-DAE4-AF53-938057310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657F47-326F-C46D-A209-46C1D19CF1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03A42-4F32-94F8-E185-A868A573F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385E3-31E0-41B1-820B-BBF0D8F3C00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3C11D-DD5A-8C67-E67E-C17EE50B9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ABE98-06B0-ED51-C583-35091594D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518F-E42C-4A07-9FF3-482345712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839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08ED6-BB8F-7AC5-F171-F8A4A7C85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37A01-C1BC-20AD-EBC6-F04F131D4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6E586-6E75-468F-6B6F-CF1E9993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385E3-31E0-41B1-820B-BBF0D8F3C00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2B381-E198-B569-06A0-7D08E5C99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475A7-4521-50EF-B971-B9D45EBA1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518F-E42C-4A07-9FF3-482345712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18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0AFC4-9F8F-F795-3C7C-212632FD4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F6A7D-BD7B-1613-A7EE-8C4390433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94A24-F4FD-F9D5-CF29-880196FCC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385E3-31E0-41B1-820B-BBF0D8F3C00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EA8EE-B5E5-6AD7-3C05-577A13538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B4A32-9C1F-EEB3-81C0-801BA2445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518F-E42C-4A07-9FF3-482345712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915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E97A2-3D1C-BA89-AC59-386B6C729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2889-9AAD-6DDB-5B3C-A6F020546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0E848-6B6E-BDF5-8DA7-2BCF17DF1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E2728-701B-21C3-0DDA-B9D95A430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385E3-31E0-41B1-820B-BBF0D8F3C00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7982C-F152-73A9-2386-A3FC8C6CB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C51362-8584-0B2B-B981-C06CC9FCA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518F-E42C-4A07-9FF3-482345712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076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CED51-5FDE-9FE4-A217-EB93DC77C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4AA0C-238D-682E-A97E-0B759C292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B302E9-AC41-5E9B-331C-AED0ED6A7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9B831D-C47C-5734-6753-28E6B64F13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B94BFD-6FD2-9EE5-C87B-D0592A6AC4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C61224-F810-F077-0837-863F4A94C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385E3-31E0-41B1-820B-BBF0D8F3C00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78F4AA-4F61-50A6-27FB-E044DF019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0D309E-2888-AC72-A8B4-4228EFDD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518F-E42C-4A07-9FF3-482345712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891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9CCB5-BC50-315D-FDB6-55B3DDC5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00ACDD-DB3E-BD22-077D-E4F5874DF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385E3-31E0-41B1-820B-BBF0D8F3C00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F4AB10-CE81-4504-7C9D-540E7E1DF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A11306-D975-470E-8565-523F68256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518F-E42C-4A07-9FF3-482345712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419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397A0F-B1BA-3802-9143-99448A2D0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385E3-31E0-41B1-820B-BBF0D8F3C00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996627-D8C0-61ED-8EDB-212DA271C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9C069-BA6B-3850-DE73-3048C240C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518F-E42C-4A07-9FF3-482345712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406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42892-C23A-B09C-F31C-EDF0DAB04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9ACAF-6C1C-5946-B24A-896DD93F8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7FE36-41CD-AFB5-0D79-F462D316C9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3F6798-09C9-5AC9-3036-6FC67D814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385E3-31E0-41B1-820B-BBF0D8F3C00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EB2F1-15B2-E176-B7A4-02E401039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6EF44-8091-058E-EBDA-F4CE23A61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518F-E42C-4A07-9FF3-482345712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01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4C672-AC22-CCC9-C66D-8A00659B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AC9BE6-A44B-1C8E-0B6D-5D81C28380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3527B7-E227-BF13-E7AE-8543B2C8F0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CA432-4DC1-C55A-1467-C1548C295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385E3-31E0-41B1-820B-BBF0D8F3C00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1B4A8-FB61-5B8D-24FA-9C6150551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072F2-F39C-67AD-6CDF-D1A74B737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518F-E42C-4A07-9FF3-482345712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587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5BE1-7AF8-27D3-CDD5-9B821DAD1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C73431-FE0C-7EE2-AE75-75FA8ED1A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8990A-3E3A-3236-1724-778FF71CB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385E3-31E0-41B1-820B-BBF0D8F3C00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BB7E1-E9E1-1A88-70DB-5353FE436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F981F-8C74-1F2B-D29D-C0CC41F32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518F-E42C-4A07-9FF3-482345712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060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369EC7-B9D6-6BC3-2A1B-207B13F71A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F6D6D-5413-2ED6-2E86-3A57F76062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81044-932C-E78B-54F4-09DC886EE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385E3-31E0-41B1-820B-BBF0D8F3C00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6BA0D-685E-A739-9A4E-C2EEB5FA3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5EFA7-606C-20BB-03FB-F0B86250B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518F-E42C-4A07-9FF3-482345712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316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DD84C-24DF-5830-F0DE-4D782F02E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48D4C-5D16-DCDF-095B-7FFB395BE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1CABB-8B96-4F31-A644-EAAF726C8D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4385E3-31E0-41B1-820B-BBF0D8F3C00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D557A-D1FE-D2AC-D8EF-E0025B24E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7D227-87B1-230B-094F-B59F2054E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0518F-E42C-4A07-9FF3-482345712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234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is may contain: an abstract blue background with stars in the middle and a circular design on the bottom">
            <a:extLst>
              <a:ext uri="{FF2B5EF4-FFF2-40B4-BE49-F238E27FC236}">
                <a16:creationId xmlns:a16="http://schemas.microsoft.com/office/drawing/2014/main" id="{429A5137-CBB6-D8B4-1753-3888AB7D2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A4C345-84E2-58B4-E7DD-B6A3D323C9DE}"/>
              </a:ext>
            </a:extLst>
          </p:cNvPr>
          <p:cNvSpPr txBox="1"/>
          <p:nvPr/>
        </p:nvSpPr>
        <p:spPr>
          <a:xfrm>
            <a:off x="1726676" y="452487"/>
            <a:ext cx="873864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SUMMER INTERNSHIP PRESENTATION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CBF021-FE9C-5EAA-E743-055D5E5DC3CB}"/>
              </a:ext>
            </a:extLst>
          </p:cNvPr>
          <p:cNvSpPr txBox="1"/>
          <p:nvPr/>
        </p:nvSpPr>
        <p:spPr>
          <a:xfrm>
            <a:off x="263951" y="3932242"/>
            <a:ext cx="43928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NAME: HIYA KHICHI</a:t>
            </a:r>
          </a:p>
          <a:p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BATCH: 8</a:t>
            </a:r>
          </a:p>
          <a:p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PROGRAMME:BTECH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8C2E53-D00A-BFFA-E716-526DF5A99DEA}"/>
              </a:ext>
            </a:extLst>
          </p:cNvPr>
          <p:cNvSpPr txBox="1"/>
          <p:nvPr/>
        </p:nvSpPr>
        <p:spPr>
          <a:xfrm>
            <a:off x="6096000" y="3809645"/>
            <a:ext cx="52884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NAME OF ORGANIZATION : JAN PBEL 2.0 AI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PROJECT : AI-BASED EMOTION RECOGNITION FROM TEXT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FACULTY GUIDE : MR.DEVANSH SIR PERIOD OF INTERNSHIP : 3 MONTHS</a:t>
            </a:r>
            <a:endParaRPr lang="en-IN" sz="24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381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C9147-CAB6-4523-1736-AD4A62CC0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is may contain: an abstract blue background with stars in the middle and a circular design on the bottom">
            <a:extLst>
              <a:ext uri="{FF2B5EF4-FFF2-40B4-BE49-F238E27FC236}">
                <a16:creationId xmlns:a16="http://schemas.microsoft.com/office/drawing/2014/main" id="{13D1FDD9-B8B5-DC63-6A65-D68260745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B1B0E6-1C13-D7F4-B65E-9F2F17D62BF3}"/>
              </a:ext>
            </a:extLst>
          </p:cNvPr>
          <p:cNvSpPr txBox="1"/>
          <p:nvPr/>
        </p:nvSpPr>
        <p:spPr>
          <a:xfrm>
            <a:off x="271805" y="1761620"/>
            <a:ext cx="11748941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60" i="1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Human communication is not only about words but also about emotions conveyed through text.</a:t>
            </a:r>
          </a:p>
          <a:p>
            <a:pPr algn="just"/>
            <a:r>
              <a:rPr lang="en-US" sz="2260" i="1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With the rapid growth of digital communication platforms such as social media, emails, and messaging applications, understanding emotions in textual data has become extremely important</a:t>
            </a:r>
            <a:r>
              <a:rPr lang="en-US" sz="2260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.</a:t>
            </a:r>
          </a:p>
          <a:p>
            <a:pPr algn="just"/>
            <a:endParaRPr lang="en-US" sz="2260" dirty="0">
              <a:solidFill>
                <a:schemeClr val="bg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sz="2260" dirty="0">
              <a:solidFill>
                <a:schemeClr val="bg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sz="2100" dirty="0">
              <a:solidFill>
                <a:schemeClr val="bg1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With the growth of social media platforms, analyzing people's emotions has become valuable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Customer feedback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Mental health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Social media sentiment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Human-computer interaction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In this project, we build an </a:t>
            </a:r>
            <a:r>
              <a:rPr lang="en-US" b="1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AI-based emotion recognition system</a:t>
            </a:r>
            <a:r>
              <a:rPr lang="en-US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that predicts emotions from text using </a:t>
            </a:r>
            <a:r>
              <a:rPr lang="en-US" b="1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machine learning techniques</a:t>
            </a:r>
            <a:r>
              <a:rPr lang="en-US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E5852D-C58D-6100-7992-128B5DC3D018}"/>
              </a:ext>
            </a:extLst>
          </p:cNvPr>
          <p:cNvSpPr txBox="1"/>
          <p:nvPr/>
        </p:nvSpPr>
        <p:spPr>
          <a:xfrm>
            <a:off x="3195686" y="234952"/>
            <a:ext cx="59011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928679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A416D-FA81-47A7-A714-90BD9BB99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is may contain: an abstract blue background with stars in the middle and a circular design on the bottom">
            <a:extLst>
              <a:ext uri="{FF2B5EF4-FFF2-40B4-BE49-F238E27FC236}">
                <a16:creationId xmlns:a16="http://schemas.microsoft.com/office/drawing/2014/main" id="{75DABE37-F545-7409-1F5E-E8F4D72F4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42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84A9B3-72F3-0CC7-BBF6-490BB49CE47C}"/>
              </a:ext>
            </a:extLst>
          </p:cNvPr>
          <p:cNvSpPr txBox="1"/>
          <p:nvPr/>
        </p:nvSpPr>
        <p:spPr>
          <a:xfrm>
            <a:off x="849983" y="1517716"/>
            <a:ext cx="10688426" cy="424731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The aim :</a:t>
            </a:r>
          </a:p>
          <a:p>
            <a:pPr algn="just"/>
            <a:endParaRPr lang="en-US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algn="just"/>
            <a:r>
              <a:rPr lang="en-US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The aim of this project is to build a </a:t>
            </a:r>
            <a:r>
              <a:rPr lang="en-US" b="1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text classification model</a:t>
            </a:r>
            <a:r>
              <a:rPr lang="en-US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that detects emotions from user-provided text.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The system follows these major steps:</a:t>
            </a:r>
          </a:p>
          <a:p>
            <a:pPr algn="just"/>
            <a:endParaRPr lang="en-US" dirty="0">
              <a:solidFill>
                <a:schemeClr val="bg1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algn="just"/>
            <a:endParaRPr lang="en-US" dirty="0">
              <a:solidFill>
                <a:schemeClr val="bg1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Loading necessary libraries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Creating and loading dataset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Data preprocessing and cleaning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Data visualization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Converting text into numerical format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Training a machine learning model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Predicting emotion for new text input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CEE9A0-6ECF-03BA-7B6C-1705F305C11D}"/>
              </a:ext>
            </a:extLst>
          </p:cNvPr>
          <p:cNvSpPr txBox="1"/>
          <p:nvPr/>
        </p:nvSpPr>
        <p:spPr>
          <a:xfrm>
            <a:off x="4157221" y="424749"/>
            <a:ext cx="72586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4186786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0A77C-48C8-EA57-81B7-FC1F9AD32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is may contain: an abstract blue background with stars in the middle and a circular design on the bottom">
            <a:extLst>
              <a:ext uri="{FF2B5EF4-FFF2-40B4-BE49-F238E27FC236}">
                <a16:creationId xmlns:a16="http://schemas.microsoft.com/office/drawing/2014/main" id="{BA2BE7A0-C085-BEA9-8A11-C1DA79DF0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C0D259-9FE2-3362-B0FD-78E616A44ACF}"/>
              </a:ext>
            </a:extLst>
          </p:cNvPr>
          <p:cNvSpPr txBox="1"/>
          <p:nvPr/>
        </p:nvSpPr>
        <p:spPr>
          <a:xfrm>
            <a:off x="3569868" y="1228397"/>
            <a:ext cx="585926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>
                    <a:lumMod val="95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Text Input</a:t>
            </a:r>
            <a:br>
              <a:rPr lang="en-IN" sz="2000" dirty="0">
                <a:solidFill>
                  <a:schemeClr val="bg1">
                    <a:lumMod val="95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</a:br>
            <a:r>
              <a:rPr lang="en-IN" sz="2000" dirty="0">
                <a:solidFill>
                  <a:schemeClr val="bg1">
                    <a:lumMod val="95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↓</a:t>
            </a:r>
            <a:br>
              <a:rPr lang="en-IN" sz="2000" dirty="0">
                <a:solidFill>
                  <a:schemeClr val="bg1">
                    <a:lumMod val="95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</a:br>
            <a:r>
              <a:rPr lang="en-IN" sz="2000" dirty="0">
                <a:solidFill>
                  <a:schemeClr val="bg1">
                    <a:lumMod val="95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Dataset Creation</a:t>
            </a:r>
            <a:br>
              <a:rPr lang="en-IN" sz="2000" dirty="0">
                <a:solidFill>
                  <a:schemeClr val="bg1">
                    <a:lumMod val="95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</a:br>
            <a:r>
              <a:rPr lang="en-IN" sz="2000" dirty="0">
                <a:solidFill>
                  <a:schemeClr val="bg1">
                    <a:lumMod val="95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↓</a:t>
            </a:r>
            <a:br>
              <a:rPr lang="en-IN" sz="2000" dirty="0">
                <a:solidFill>
                  <a:schemeClr val="bg1">
                    <a:lumMod val="95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</a:br>
            <a:r>
              <a:rPr lang="en-IN" sz="2000" dirty="0">
                <a:solidFill>
                  <a:schemeClr val="bg1">
                    <a:lumMod val="95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Data Preprocessing</a:t>
            </a:r>
            <a:br>
              <a:rPr lang="en-IN" sz="2000" dirty="0">
                <a:solidFill>
                  <a:schemeClr val="bg1">
                    <a:lumMod val="95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</a:br>
            <a:r>
              <a:rPr lang="en-IN" sz="2000" dirty="0">
                <a:solidFill>
                  <a:schemeClr val="bg1">
                    <a:lumMod val="95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↓</a:t>
            </a:r>
            <a:br>
              <a:rPr lang="en-IN" sz="2000" dirty="0">
                <a:solidFill>
                  <a:schemeClr val="bg1">
                    <a:lumMod val="95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</a:br>
            <a:r>
              <a:rPr lang="en-IN" sz="2000" dirty="0">
                <a:solidFill>
                  <a:schemeClr val="bg1">
                    <a:lumMod val="95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Feature Extraction (TF-IDF Vectorizer)</a:t>
            </a:r>
            <a:br>
              <a:rPr lang="en-IN" sz="2000" dirty="0">
                <a:solidFill>
                  <a:schemeClr val="bg1">
                    <a:lumMod val="95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</a:br>
            <a:r>
              <a:rPr lang="en-IN" sz="2000" dirty="0">
                <a:solidFill>
                  <a:schemeClr val="bg1">
                    <a:lumMod val="95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↓</a:t>
            </a:r>
            <a:br>
              <a:rPr lang="en-IN" sz="2000" dirty="0">
                <a:solidFill>
                  <a:schemeClr val="bg1">
                    <a:lumMod val="95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</a:br>
            <a:r>
              <a:rPr lang="en-IN" sz="2000" dirty="0">
                <a:solidFill>
                  <a:schemeClr val="bg1">
                    <a:lumMod val="95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Model Training (Naive Bayes)</a:t>
            </a:r>
            <a:br>
              <a:rPr lang="en-IN" sz="2000" dirty="0">
                <a:solidFill>
                  <a:schemeClr val="bg1">
                    <a:lumMod val="95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</a:br>
            <a:r>
              <a:rPr lang="en-IN" sz="2000" dirty="0">
                <a:solidFill>
                  <a:schemeClr val="bg1">
                    <a:lumMod val="95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↓</a:t>
            </a:r>
            <a:br>
              <a:rPr lang="en-IN" sz="2000" dirty="0">
                <a:solidFill>
                  <a:schemeClr val="bg1">
                    <a:lumMod val="95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</a:br>
            <a:r>
              <a:rPr lang="en-IN" sz="2000" dirty="0">
                <a:solidFill>
                  <a:schemeClr val="bg1">
                    <a:lumMod val="95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Emotion Prediction</a:t>
            </a:r>
            <a:br>
              <a:rPr lang="en-IN" sz="2000" dirty="0">
                <a:solidFill>
                  <a:schemeClr val="bg1">
                    <a:lumMod val="95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</a:br>
            <a:r>
              <a:rPr lang="en-IN" sz="2000" dirty="0">
                <a:solidFill>
                  <a:schemeClr val="bg1">
                    <a:lumMod val="95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↓</a:t>
            </a:r>
            <a:br>
              <a:rPr lang="en-IN" sz="2000" dirty="0">
                <a:solidFill>
                  <a:schemeClr val="bg1">
                    <a:lumMod val="95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</a:br>
            <a:r>
              <a:rPr lang="en-IN" sz="2000" dirty="0">
                <a:solidFill>
                  <a:schemeClr val="bg1">
                    <a:lumMod val="95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Output Display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16A4B6-C21B-4002-47B4-15498AAE4C41}"/>
              </a:ext>
            </a:extLst>
          </p:cNvPr>
          <p:cNvSpPr txBox="1"/>
          <p:nvPr/>
        </p:nvSpPr>
        <p:spPr>
          <a:xfrm>
            <a:off x="516573" y="0"/>
            <a:ext cx="100289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5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WORKFLOW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709E-C00D-A740-8247-4F16A9A848E2}"/>
              </a:ext>
            </a:extLst>
          </p:cNvPr>
          <p:cNvSpPr txBox="1"/>
          <p:nvPr/>
        </p:nvSpPr>
        <p:spPr>
          <a:xfrm>
            <a:off x="3205316" y="5934669"/>
            <a:ext cx="6971071" cy="646331"/>
          </a:xfrm>
          <a:prstGeom prst="rect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i="1" dirty="0">
                <a:solidFill>
                  <a:schemeClr val="accent6">
                    <a:lumMod val="20000"/>
                    <a:lumOff val="80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This architecture enables the system to transform raw text into meaningful emotional predictions</a:t>
            </a:r>
            <a:endParaRPr lang="en-IN" i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570841-B266-3319-B141-D85BA043D351}"/>
              </a:ext>
            </a:extLst>
          </p:cNvPr>
          <p:cNvSpPr txBox="1"/>
          <p:nvPr/>
        </p:nvSpPr>
        <p:spPr>
          <a:xfrm>
            <a:off x="3883742" y="383458"/>
            <a:ext cx="5142271" cy="646331"/>
          </a:xfrm>
          <a:prstGeom prst="rect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The workflow of the system is as follows:</a:t>
            </a:r>
          </a:p>
        </p:txBody>
      </p:sp>
    </p:spTree>
    <p:extLst>
      <p:ext uri="{BB962C8B-B14F-4D97-AF65-F5344CB8AC3E}">
        <p14:creationId xmlns:p14="http://schemas.microsoft.com/office/powerpoint/2010/main" val="3971647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9D2E6-2DC1-9098-062F-E242E899F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is may contain: an abstract blue background with stars in the middle and a circular design on the bottom">
            <a:extLst>
              <a:ext uri="{FF2B5EF4-FFF2-40B4-BE49-F238E27FC236}">
                <a16:creationId xmlns:a16="http://schemas.microsoft.com/office/drawing/2014/main" id="{AD00D0CC-940A-3C47-25D0-6CEEEF120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BE1152-8E1A-9016-2608-E2A8C59442A7}"/>
              </a:ext>
            </a:extLst>
          </p:cNvPr>
          <p:cNvSpPr txBox="1"/>
          <p:nvPr/>
        </p:nvSpPr>
        <p:spPr>
          <a:xfrm>
            <a:off x="131975" y="2460396"/>
            <a:ext cx="5090474" cy="332398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  <a:scene3d>
            <a:camera prst="isometricOffAxis1Righ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Libraries Used: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b="1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Pandas</a:t>
            </a:r>
            <a:r>
              <a:rPr lang="en-US" sz="2400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– for data manipulation and </a:t>
            </a:r>
            <a:r>
              <a:rPr lang="en-US" sz="2400" dirty="0" err="1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DataFrame</a:t>
            </a:r>
            <a:r>
              <a:rPr lang="en-US" sz="2400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creation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b="1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Matplotlib</a:t>
            </a:r>
            <a:r>
              <a:rPr lang="en-US" sz="2400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– for data visualization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b="1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Scikit-Learn</a:t>
            </a:r>
            <a:r>
              <a:rPr lang="en-US" sz="2400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 – for machine learning algorithms and evaluation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b="1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Regex(re)- </a:t>
            </a:r>
            <a:r>
              <a:rPr lang="en-US" sz="2400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for text cleaning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08BDA6-EC3C-B7F3-D0AD-D208172D4BA9}"/>
              </a:ext>
            </a:extLst>
          </p:cNvPr>
          <p:cNvSpPr txBox="1"/>
          <p:nvPr/>
        </p:nvSpPr>
        <p:spPr>
          <a:xfrm>
            <a:off x="1142213" y="1147258"/>
            <a:ext cx="93608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The project uses several Python libraries for data processing, visualization, and machine learning.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D3574D-7D95-8F21-F431-A562385F0431}"/>
              </a:ext>
            </a:extLst>
          </p:cNvPr>
          <p:cNvSpPr txBox="1"/>
          <p:nvPr/>
        </p:nvSpPr>
        <p:spPr>
          <a:xfrm>
            <a:off x="6806151" y="2768172"/>
            <a:ext cx="4443166" cy="3077766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• </a:t>
            </a:r>
            <a:r>
              <a:rPr lang="en-US" sz="2200" dirty="0" err="1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train_test_split</a:t>
            </a:r>
            <a:r>
              <a:rPr lang="en-US" sz="2200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() – to divide data into training and testing sets</a:t>
            </a:r>
            <a:br>
              <a:rPr lang="en-US" sz="2200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</a:br>
            <a:r>
              <a:rPr lang="en-US" sz="2200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• </a:t>
            </a:r>
            <a:r>
              <a:rPr lang="en-US" sz="2200" dirty="0" err="1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TfidfVectorizer</a:t>
            </a:r>
            <a:r>
              <a:rPr lang="en-US" sz="2200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() – to convert text into numerical features</a:t>
            </a:r>
            <a:br>
              <a:rPr lang="en-US" sz="2200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</a:br>
            <a:r>
              <a:rPr lang="en-US" sz="2200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• </a:t>
            </a:r>
            <a:r>
              <a:rPr lang="en-US" sz="2200" dirty="0" err="1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MultinomialNB</a:t>
            </a:r>
            <a:r>
              <a:rPr lang="en-US" sz="2200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() – to train the classification model</a:t>
            </a:r>
            <a:br>
              <a:rPr lang="en-US" sz="2200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</a:br>
            <a:r>
              <a:rPr lang="en-US" sz="2200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• </a:t>
            </a:r>
            <a:r>
              <a:rPr lang="en-US" sz="2200" dirty="0" err="1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accuracy_score</a:t>
            </a:r>
            <a:r>
              <a:rPr lang="en-US" sz="2200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() – to measure model performance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036BCD-5547-24AF-977B-C08496DD319D}"/>
              </a:ext>
            </a:extLst>
          </p:cNvPr>
          <p:cNvSpPr txBox="1"/>
          <p:nvPr/>
        </p:nvSpPr>
        <p:spPr>
          <a:xfrm>
            <a:off x="6806151" y="2009032"/>
            <a:ext cx="4402319" cy="46166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Key functions used include: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EB45F1-3501-2466-AFD6-4CA688123DAE}"/>
              </a:ext>
            </a:extLst>
          </p:cNvPr>
          <p:cNvSpPr txBox="1"/>
          <p:nvPr/>
        </p:nvSpPr>
        <p:spPr>
          <a:xfrm>
            <a:off x="2000053" y="224917"/>
            <a:ext cx="8191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LOADING LIBRARIES AND DATA</a:t>
            </a:r>
          </a:p>
        </p:txBody>
      </p:sp>
    </p:spTree>
    <p:extLst>
      <p:ext uri="{BB962C8B-B14F-4D97-AF65-F5344CB8AC3E}">
        <p14:creationId xmlns:p14="http://schemas.microsoft.com/office/powerpoint/2010/main" val="2757029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33611-035F-6990-7F90-87D3616C8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is may contain: an abstract blue background with stars in the middle and a circular design on the bottom">
            <a:extLst>
              <a:ext uri="{FF2B5EF4-FFF2-40B4-BE49-F238E27FC236}">
                <a16:creationId xmlns:a16="http://schemas.microsoft.com/office/drawing/2014/main" id="{E6B666AA-FCEC-52F7-D55C-0C6F7A873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E69CAE-2F82-9533-3F2F-EDAEEFBCA5B6}"/>
              </a:ext>
            </a:extLst>
          </p:cNvPr>
          <p:cNvSpPr txBox="1"/>
          <p:nvPr/>
        </p:nvSpPr>
        <p:spPr>
          <a:xfrm>
            <a:off x="247453" y="1371118"/>
            <a:ext cx="4993851" cy="1754326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Dataset Size</a:t>
            </a:r>
          </a:p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Total samples: 13 different emotion and 40k+ records </a:t>
            </a:r>
          </a:p>
          <a:p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Balanced dataset with multiple examples for each emotion category.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0AE1AC-F8BD-E514-0E4B-F7E1B8D7A372}"/>
              </a:ext>
            </a:extLst>
          </p:cNvPr>
          <p:cNvSpPr txBox="1"/>
          <p:nvPr/>
        </p:nvSpPr>
        <p:spPr>
          <a:xfrm>
            <a:off x="7421251" y="1672144"/>
            <a:ext cx="4441596" cy="49859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000" dirty="0" err="1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df</a:t>
            </a:r>
            <a:r>
              <a:rPr lang="en-IN" sz="2000" dirty="0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=</a:t>
            </a:r>
            <a:r>
              <a:rPr lang="en-IN" sz="2000" dirty="0" err="1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pd.DataFrame</a:t>
            </a:r>
            <a:r>
              <a:rPr lang="en-IN" sz="2000" dirty="0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(data)</a:t>
            </a:r>
          </a:p>
          <a:p>
            <a:r>
              <a:rPr lang="en-IN" sz="2000" dirty="0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print(</a:t>
            </a:r>
            <a:r>
              <a:rPr lang="en-IN" sz="2000" dirty="0" err="1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df.head</a:t>
            </a:r>
            <a:r>
              <a:rPr lang="en-IN" sz="2000" dirty="0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())</a:t>
            </a:r>
          </a:p>
          <a:p>
            <a:r>
              <a:rPr lang="en-IN" sz="2000" dirty="0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print(df.info())</a:t>
            </a:r>
          </a:p>
          <a:p>
            <a:r>
              <a:rPr lang="en-IN" sz="2000" dirty="0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print(</a:t>
            </a:r>
            <a:r>
              <a:rPr lang="en-IN" sz="2000" dirty="0" err="1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df</a:t>
            </a:r>
            <a:r>
              <a:rPr lang="en-IN" sz="2000" dirty="0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["emotion"].</a:t>
            </a:r>
            <a:r>
              <a:rPr lang="en-IN" sz="2000" dirty="0" err="1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value_counts</a:t>
            </a:r>
            <a:r>
              <a:rPr lang="en-IN" sz="2000" dirty="0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())</a:t>
            </a:r>
          </a:p>
          <a:p>
            <a:r>
              <a:rPr lang="en-IN" sz="2000" dirty="0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choice = input("Show dataset graph? (yes/no): ")</a:t>
            </a:r>
          </a:p>
          <a:p>
            <a:r>
              <a:rPr lang="en-IN" sz="2000" dirty="0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if choice == "yes":</a:t>
            </a:r>
          </a:p>
          <a:p>
            <a:r>
              <a:rPr lang="en-IN" sz="2000" dirty="0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    </a:t>
            </a:r>
            <a:r>
              <a:rPr lang="en-IN" sz="2000" dirty="0" err="1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df</a:t>
            </a:r>
            <a:r>
              <a:rPr lang="en-IN" sz="2000" dirty="0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["emotion"].</a:t>
            </a:r>
            <a:r>
              <a:rPr lang="en-IN" sz="2000" dirty="0" err="1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value_counts</a:t>
            </a:r>
            <a:r>
              <a:rPr lang="en-IN" sz="2000" dirty="0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().</a:t>
            </a:r>
            <a:r>
              <a:rPr lang="en-IN" sz="2000" dirty="0" err="1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sort_index</a:t>
            </a:r>
            <a:r>
              <a:rPr lang="en-IN" sz="2000" dirty="0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().plot(kind="bar")</a:t>
            </a:r>
          </a:p>
          <a:p>
            <a:r>
              <a:rPr lang="en-IN" sz="2000" dirty="0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    </a:t>
            </a:r>
            <a:r>
              <a:rPr lang="en-IN" sz="2000" dirty="0" err="1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plt.title</a:t>
            </a:r>
            <a:r>
              <a:rPr lang="en-IN" sz="2000" dirty="0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("Emotion Distribution")</a:t>
            </a:r>
          </a:p>
          <a:p>
            <a:r>
              <a:rPr lang="en-IN" sz="2000" dirty="0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    </a:t>
            </a:r>
            <a:r>
              <a:rPr lang="en-IN" sz="2000" dirty="0" err="1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plt.xlabel</a:t>
            </a:r>
            <a:r>
              <a:rPr lang="en-IN" sz="2000" dirty="0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("Emotion")</a:t>
            </a:r>
          </a:p>
          <a:p>
            <a:r>
              <a:rPr lang="en-IN" sz="2000" dirty="0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    </a:t>
            </a:r>
            <a:r>
              <a:rPr lang="en-IN" sz="2000" dirty="0" err="1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plt.ylabel</a:t>
            </a:r>
            <a:r>
              <a:rPr lang="en-IN" sz="2000" dirty="0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("Count")</a:t>
            </a:r>
          </a:p>
          <a:p>
            <a:r>
              <a:rPr lang="en-IN" sz="2000" dirty="0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    </a:t>
            </a:r>
            <a:r>
              <a:rPr lang="en-IN" sz="2000" dirty="0" err="1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plt.show</a:t>
            </a:r>
            <a:r>
              <a:rPr lang="en-IN" sz="2000" dirty="0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()</a:t>
            </a:r>
          </a:p>
          <a:p>
            <a:r>
              <a:rPr lang="en-IN" sz="2000" dirty="0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X=</a:t>
            </a:r>
            <a:r>
              <a:rPr lang="en-IN" sz="2000" dirty="0" err="1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df</a:t>
            </a:r>
            <a:r>
              <a:rPr lang="en-IN" sz="2000" dirty="0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["text"]</a:t>
            </a:r>
          </a:p>
          <a:p>
            <a:r>
              <a:rPr lang="en-IN" sz="2000" dirty="0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y=</a:t>
            </a:r>
            <a:r>
              <a:rPr lang="en-IN" sz="2000" dirty="0" err="1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df</a:t>
            </a:r>
            <a:r>
              <a:rPr lang="en-IN" sz="2000" dirty="0">
                <a:solidFill>
                  <a:srgbClr val="00206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["emotion"]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5DA2CD-7EC7-5978-1774-97F213FD6F28}"/>
              </a:ext>
            </a:extLst>
          </p:cNvPr>
          <p:cNvSpPr txBox="1"/>
          <p:nvPr/>
        </p:nvSpPr>
        <p:spPr>
          <a:xfrm>
            <a:off x="4513082" y="189217"/>
            <a:ext cx="29081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DATASET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E75F84-B4EE-02D3-DC66-3797C050B30D}"/>
              </a:ext>
            </a:extLst>
          </p:cNvPr>
          <p:cNvSpPr txBox="1"/>
          <p:nvPr/>
        </p:nvSpPr>
        <p:spPr>
          <a:xfrm>
            <a:off x="7911837" y="1053791"/>
            <a:ext cx="3460423" cy="46166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1">
                    <a:lumMod val="95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CODE FOR THE SAME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D65F88-3CBD-1297-ADA1-C62EDD7283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34" y="2837332"/>
            <a:ext cx="4257675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121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33621-C953-1E44-EDFE-3E82E8E31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is may contain: an abstract blue background with stars in the middle and a circular design on the bottom">
            <a:extLst>
              <a:ext uri="{FF2B5EF4-FFF2-40B4-BE49-F238E27FC236}">
                <a16:creationId xmlns:a16="http://schemas.microsoft.com/office/drawing/2014/main" id="{5FDA54BD-FD99-879B-29ED-ACE2F6C13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16BF764-ED7C-414F-1CE7-81AAB476920B}"/>
              </a:ext>
            </a:extLst>
          </p:cNvPr>
          <p:cNvSpPr txBox="1"/>
          <p:nvPr/>
        </p:nvSpPr>
        <p:spPr>
          <a:xfrm>
            <a:off x="251382" y="656432"/>
            <a:ext cx="1110241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Type of Dataset:</a:t>
            </a:r>
            <a:br>
              <a:rPr lang="en-US" sz="2200" dirty="0">
                <a:solidFill>
                  <a:schemeClr val="accent3">
                    <a:lumMod val="40000"/>
                    <a:lumOff val="60000"/>
                  </a:schemeClr>
                </a:solidFill>
              </a:rPr>
            </a:br>
            <a:r>
              <a:rPr lang="en-US" sz="2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The dataset used in this project is a </a:t>
            </a:r>
            <a:r>
              <a:rPr lang="en-US" sz="22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text-based emotion dataset</a:t>
            </a:r>
            <a:r>
              <a:rPr lang="en-US" sz="2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created manually for training the emotion classification model.</a:t>
            </a:r>
          </a:p>
          <a:p>
            <a:endParaRPr lang="en-US" sz="22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r>
              <a:rPr lang="en-US" sz="22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Purpose:</a:t>
            </a:r>
            <a:br>
              <a:rPr lang="en-US" sz="2200" dirty="0">
                <a:solidFill>
                  <a:schemeClr val="accent3">
                    <a:lumMod val="40000"/>
                    <a:lumOff val="60000"/>
                  </a:schemeClr>
                </a:solidFill>
              </a:rPr>
            </a:br>
            <a:r>
              <a:rPr lang="en-US" sz="2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The dataset helps the machine learning model learn how different words and sentences correspond to specific human emotions.</a:t>
            </a:r>
          </a:p>
          <a:p>
            <a:endParaRPr lang="en-US" sz="22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r>
              <a:rPr lang="en-US" sz="22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Structure of Dataset:</a:t>
            </a:r>
            <a:br>
              <a:rPr lang="en-US" sz="2200" dirty="0">
                <a:solidFill>
                  <a:schemeClr val="accent3">
                    <a:lumMod val="40000"/>
                    <a:lumOff val="60000"/>
                  </a:schemeClr>
                </a:solidFill>
              </a:rPr>
            </a:br>
            <a:r>
              <a:rPr lang="en-US" sz="2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The dataset contains two main columns: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0DD728-4F7C-BFB7-A265-8041DAC901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368418"/>
              </p:ext>
            </p:extLst>
          </p:nvPr>
        </p:nvGraphicFramePr>
        <p:xfrm>
          <a:off x="419099" y="4244778"/>
          <a:ext cx="9648728" cy="1620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4364">
                  <a:extLst>
                    <a:ext uri="{9D8B030D-6E8A-4147-A177-3AD203B41FA5}">
                      <a16:colId xmlns:a16="http://schemas.microsoft.com/office/drawing/2014/main" val="1095676364"/>
                    </a:ext>
                  </a:extLst>
                </a:gridCol>
                <a:gridCol w="4824364">
                  <a:extLst>
                    <a:ext uri="{9D8B030D-6E8A-4147-A177-3AD203B41FA5}">
                      <a16:colId xmlns:a16="http://schemas.microsoft.com/office/drawing/2014/main" val="2671745527"/>
                    </a:ext>
                  </a:extLst>
                </a:gridCol>
              </a:tblGrid>
              <a:tr h="363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900669"/>
                  </a:ext>
                </a:extLst>
              </a:tr>
              <a:tr h="627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Sentence or phrase expressing an emotion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9691948"/>
                  </a:ext>
                </a:extLst>
              </a:tr>
              <a:tr h="627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Emotion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Label representing the emotion of the sentence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8422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9534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62C39-9A02-0B01-2CC3-3B230AA93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is may contain: an abstract blue background with stars in the middle and a circular design on the bottom">
            <a:extLst>
              <a:ext uri="{FF2B5EF4-FFF2-40B4-BE49-F238E27FC236}">
                <a16:creationId xmlns:a16="http://schemas.microsoft.com/office/drawing/2014/main" id="{870BDB20-E522-AF60-FF77-785723BC9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B39802-B335-6FC4-FEA2-28B734D922D7}"/>
              </a:ext>
            </a:extLst>
          </p:cNvPr>
          <p:cNvSpPr txBox="1"/>
          <p:nvPr/>
        </p:nvSpPr>
        <p:spPr>
          <a:xfrm>
            <a:off x="377072" y="292231"/>
            <a:ext cx="60991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DATA MANIPULATION AND </a:t>
            </a:r>
          </a:p>
          <a:p>
            <a:r>
              <a:rPr lang="en-IN" sz="3600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DATA VISUALIZE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1DD63C-8C47-70DD-DA4A-E1DBD4D065D3}"/>
              </a:ext>
            </a:extLst>
          </p:cNvPr>
          <p:cNvSpPr txBox="1"/>
          <p:nvPr/>
        </p:nvSpPr>
        <p:spPr>
          <a:xfrm>
            <a:off x="377072" y="2677212"/>
            <a:ext cx="5561815" cy="2831544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u="sng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Data manipulation </a:t>
            </a:r>
            <a:r>
              <a:rPr lang="en-US" sz="1600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operations include:</a:t>
            </a:r>
          </a:p>
          <a:p>
            <a:r>
              <a:rPr lang="en-US" sz="1600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• Viewing the dataset using </a:t>
            </a:r>
            <a:r>
              <a:rPr lang="en-US" sz="1600" dirty="0" err="1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df.head</a:t>
            </a:r>
            <a:r>
              <a:rPr lang="en-US" sz="1600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()</a:t>
            </a:r>
            <a:br>
              <a:rPr lang="en-US" sz="1600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</a:br>
            <a:r>
              <a:rPr lang="en-US" sz="1600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• Checking dataset information using df.info()</a:t>
            </a:r>
            <a:br>
              <a:rPr lang="en-US" sz="1600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</a:br>
            <a:r>
              <a:rPr lang="en-US" sz="1600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• Counting occurrences of each emotion using </a:t>
            </a:r>
            <a:r>
              <a:rPr lang="en-US" sz="1600" dirty="0" err="1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value_counts</a:t>
            </a:r>
            <a:r>
              <a:rPr lang="en-US" sz="1600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()</a:t>
            </a:r>
          </a:p>
          <a:p>
            <a:r>
              <a:rPr lang="en-US" sz="1600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These operations help understand the dataset distribution and verify that the data is correctly structured before training the model</a:t>
            </a:r>
          </a:p>
          <a:p>
            <a:endParaRPr lang="en-IN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E3CC81-3D59-9474-6113-708A5A01F2C1}"/>
              </a:ext>
            </a:extLst>
          </p:cNvPr>
          <p:cNvSpPr txBox="1"/>
          <p:nvPr/>
        </p:nvSpPr>
        <p:spPr>
          <a:xfrm>
            <a:off x="6359951" y="3324737"/>
            <a:ext cx="5410985" cy="313932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500" b="1" u="sng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Data visualization </a:t>
            </a:r>
            <a:r>
              <a:rPr lang="en-US" sz="1500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is performed to analyze the distribution of emotions within the dataset.</a:t>
            </a:r>
          </a:p>
          <a:p>
            <a:r>
              <a:rPr lang="en-US" sz="1500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 </a:t>
            </a:r>
            <a:r>
              <a:rPr lang="en-US" sz="1500" b="1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bar graph</a:t>
            </a:r>
            <a:r>
              <a:rPr lang="en-US" sz="1500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is used to display the frequency of each emotion category.</a:t>
            </a:r>
          </a:p>
          <a:p>
            <a:r>
              <a:rPr lang="en-US" sz="1500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Steps involved: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Count occurrences of each emotion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Sort emotions alphabetically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Plot a bar chart using Matplotlib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The visualization helps identify which emotions appear more frequently in the dataset</a:t>
            </a:r>
          </a:p>
          <a:p>
            <a:endParaRPr lang="en-IN" dirty="0"/>
          </a:p>
        </p:txBody>
      </p:sp>
      <p:pic>
        <p:nvPicPr>
          <p:cNvPr id="1028" name="Picture 4" descr="This may contain: a tablet with graphs and pies on the screen, as well as an arrow">
            <a:extLst>
              <a:ext uri="{FF2B5EF4-FFF2-40B4-BE49-F238E27FC236}">
                <a16:creationId xmlns:a16="http://schemas.microsoft.com/office/drawing/2014/main" id="{4DC7BE9F-E21D-4628-9933-2FE955AFE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7492" y="496701"/>
            <a:ext cx="4835902" cy="2331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4598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1AA67-822D-5F1B-AE64-BDC8C5D63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is may contain: an abstract blue background with stars in the middle and a circular design on the bottom">
            <a:extLst>
              <a:ext uri="{FF2B5EF4-FFF2-40B4-BE49-F238E27FC236}">
                <a16:creationId xmlns:a16="http://schemas.microsoft.com/office/drawing/2014/main" id="{C697E41B-120D-32B3-1210-C5E7FCF67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AAD1DB-CE56-1213-3F4F-2F0C20CAEF7F}"/>
              </a:ext>
            </a:extLst>
          </p:cNvPr>
          <p:cNvSpPr txBox="1"/>
          <p:nvPr/>
        </p:nvSpPr>
        <p:spPr>
          <a:xfrm>
            <a:off x="3838280" y="179109"/>
            <a:ext cx="4515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Train Test Split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719E8E-CEB3-F76B-C199-5B4B3A6C7F89}"/>
              </a:ext>
            </a:extLst>
          </p:cNvPr>
          <p:cNvSpPr txBox="1"/>
          <p:nvPr/>
        </p:nvSpPr>
        <p:spPr>
          <a:xfrm>
            <a:off x="586033" y="1467084"/>
            <a:ext cx="110199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The dataset is divided into </a:t>
            </a:r>
            <a:r>
              <a:rPr lang="en-US" sz="2000" b="1" i="1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training data and testing data</a:t>
            </a:r>
            <a:r>
              <a:rPr lang="en-US" sz="2000" i="1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.</a:t>
            </a:r>
          </a:p>
          <a:p>
            <a:pPr algn="just"/>
            <a:r>
              <a:rPr lang="en-US" sz="2000" i="1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Training data is used to train the model.</a:t>
            </a:r>
            <a:br>
              <a:rPr lang="en-US" sz="2000" i="1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</a:br>
            <a:r>
              <a:rPr lang="en-US" sz="2000" i="1" dirty="0">
                <a:solidFill>
                  <a:schemeClr val="bg1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Testing data is used to evaluate the model's performance.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116703-FE35-0F69-F6EA-C2E6FA7CF130}"/>
              </a:ext>
            </a:extLst>
          </p:cNvPr>
          <p:cNvSpPr txBox="1"/>
          <p:nvPr/>
        </p:nvSpPr>
        <p:spPr>
          <a:xfrm>
            <a:off x="2865750" y="3223967"/>
            <a:ext cx="6391372" cy="286232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The split ratio used in the project: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• 80% Training Data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• 20% Testing Data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This is implemented using the function:</a:t>
            </a:r>
          </a:p>
          <a:p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train_test_split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(X, y,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test_size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=0.25)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This ensures the model is tested on unseen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5904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E3518-C3AF-AB89-E142-AEF816545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is may contain: an abstract blue background with stars in the middle and a circular design on the bottom">
            <a:extLst>
              <a:ext uri="{FF2B5EF4-FFF2-40B4-BE49-F238E27FC236}">
                <a16:creationId xmlns:a16="http://schemas.microsoft.com/office/drawing/2014/main" id="{149E2451-86DF-7003-8ACB-D88E7D7FF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4C2D23-BCD0-3F1D-FA07-64EC8F2B4CA0}"/>
              </a:ext>
            </a:extLst>
          </p:cNvPr>
          <p:cNvSpPr txBox="1"/>
          <p:nvPr/>
        </p:nvSpPr>
        <p:spPr>
          <a:xfrm>
            <a:off x="2818614" y="2752627"/>
            <a:ext cx="73906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61088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776</Words>
  <Application>Microsoft Office PowerPoint</Application>
  <PresentationFormat>Widescreen</PresentationFormat>
  <Paragraphs>100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MS PGothic</vt:lpstr>
      <vt:lpstr>Yu Gothic UI Semibold</vt:lpstr>
      <vt:lpstr>Arial</vt:lpstr>
      <vt:lpstr>Arial Black</vt:lpstr>
      <vt:lpstr>Calibri</vt:lpstr>
      <vt:lpstr>Calibri Light</vt:lpstr>
      <vt:lpstr>Courier New</vt:lpstr>
      <vt:lpstr>DejaVu Sans Mono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HIYA KHICHI</dc:creator>
  <cp:lastModifiedBy>HIYA KHICHI</cp:lastModifiedBy>
  <cp:revision>3</cp:revision>
  <dcterms:created xsi:type="dcterms:W3CDTF">2026-03-12T17:17:13Z</dcterms:created>
  <dcterms:modified xsi:type="dcterms:W3CDTF">2026-03-13T13:30:11Z</dcterms:modified>
</cp:coreProperties>
</file>